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BF1E8-D73A-42F3-9D10-9FF243B4486F}" v="30" dt="2026-03-23T01:31:36.3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6677B-8386-4D99-8CB6-60CE85B49A3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7CED7-D397-4570-B28F-957CB125C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Start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7CED7-D397-4570-B28F-957CB125C6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7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0356"/>
            <a:ext cx="4446493" cy="12171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7" y="1629537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6" y="2116962"/>
            <a:ext cx="4321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594" y="2506705"/>
            <a:ext cx="13508990" cy="50706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L="710565" algn="ctr">
              <a:lnSpc>
                <a:spcPct val="100000"/>
              </a:lnSpc>
              <a:spcBef>
                <a:spcPts val="1090"/>
              </a:spcBef>
            </a:pPr>
            <a:r>
              <a:rPr sz="2800" b="1" spc="229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7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71247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23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866775">
              <a:lnSpc>
                <a:spcPct val="100000"/>
              </a:lnSpc>
              <a:spcBef>
                <a:spcPts val="3895"/>
              </a:spcBef>
            </a:pP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TO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EVENT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LIFE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CYCLE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TICKETING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PLATFORM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3200" b="1" dirty="0">
                <a:latin typeface="Cambria"/>
                <a:cs typeface="Cambria"/>
              </a:rPr>
              <a:t>SDG: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SDG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No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–4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(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Quality</a:t>
            </a:r>
            <a:r>
              <a:rPr sz="3200" b="1" spc="-2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Education)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7001" y="7758379"/>
            <a:ext cx="6858000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r>
              <a:rPr lang="en-US" sz="3000" b="1" spc="-10" dirty="0">
                <a:latin typeface="Cambria"/>
                <a:cs typeface="Cambria"/>
              </a:rPr>
              <a:t>                   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718" y="7728977"/>
            <a:ext cx="9695282" cy="1421543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3000" spc="-3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B.MANOJ</a:t>
            </a:r>
            <a:r>
              <a:rPr sz="3000" spc="-1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sz="3000" spc="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</a:t>
            </a:r>
            <a:r>
              <a:rPr lang="en-IN"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U26671</a:t>
            </a:r>
            <a:r>
              <a:rPr sz="3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Reg.No.2</a:t>
            </a:r>
            <a:r>
              <a:rPr lang="en-US"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3UECS0067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486CBE4B-F2DA-ABA2-0D16-0C78B1A39E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62199" y="1745535"/>
            <a:ext cx="13950695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management and ticket booking are commonly handled manually or through separate systems.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leads to inefficiency, data inconsistency, and poor user experience.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increasing demand for online services, there is a need for a centralized platform.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provides a digital solution for managing events and booking tickets.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view events, book tickets, and make payments easily.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manage events, users, and bookings efficiently.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accuracy, speed, and better organization.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improves accessibility and reduces manual workload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519A9-379C-50D4-981B-97F25580AF2C}"/>
              </a:ext>
            </a:extLst>
          </p:cNvPr>
          <p:cNvSpPr txBox="1"/>
          <p:nvPr/>
        </p:nvSpPr>
        <p:spPr>
          <a:xfrm>
            <a:off x="2209800" y="1982723"/>
            <a:ext cx="1410309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Existing event management systems are not fully integrated and often rely on manual processes.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Users face difficulties in discovering events and booking tickets efficiently.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Event organizers struggle with managing bookings and tracking data.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Lack of automation leads to errors, delays, and poor user experience.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There is a need for a reliable and automated system.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The system should handle event creation, ticket booking, and data management.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It should improve efficiency, accuracy, and user satisfaction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B3744F6-9E3B-8F17-2F51-70EF57217C1D}"/>
              </a:ext>
            </a:extLst>
          </p:cNvPr>
          <p:cNvSpPr txBox="1"/>
          <p:nvPr/>
        </p:nvSpPr>
        <p:spPr>
          <a:xfrm>
            <a:off x="2080487" y="2092833"/>
            <a:ext cx="142324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To design and develop a web-based event ticketing system for efficient event management.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To implement a secure and user-friendly platform for booking and managing tickets.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2C0283E6-1B60-E6CE-4A1F-16750626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344" y="1982723"/>
            <a:ext cx="1424155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a web-based application for managing events and ticket bookings.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register, login, view events, and book tickets.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add, update, and delete events.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stores all data in a centralized database.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real-time updates on ticket availability.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ensures secure login and transaction handling.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reduces manual work and increases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improves user experience and system reliability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E983FE-85E4-53CB-E082-09ABAC6A0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081087"/>
            <a:ext cx="12192000" cy="8124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C151938-45F9-4C5D-027E-B4DDCFEDE2D5}"/>
              </a:ext>
            </a:extLst>
          </p:cNvPr>
          <p:cNvSpPr/>
          <p:nvPr/>
        </p:nvSpPr>
        <p:spPr>
          <a:xfrm>
            <a:off x="8458200" y="1147571"/>
            <a:ext cx="1600200" cy="6431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72555C-A9BE-F0BE-A846-2DB1BE5D0B86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9258300" y="1790700"/>
            <a:ext cx="0" cy="526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E7B8A52-FA1A-E49B-EB18-6168DEFBF63B}"/>
              </a:ext>
            </a:extLst>
          </p:cNvPr>
          <p:cNvSpPr/>
          <p:nvPr/>
        </p:nvSpPr>
        <p:spPr>
          <a:xfrm>
            <a:off x="8305802" y="2377949"/>
            <a:ext cx="1981198" cy="643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Registers  / Logs In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093A71-22C8-BB8C-AD71-B93E74D60237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9296401" y="3021079"/>
            <a:ext cx="0" cy="40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8F83E52-6DB4-ADED-43BF-BF1CA2627106}"/>
              </a:ext>
            </a:extLst>
          </p:cNvPr>
          <p:cNvSpPr/>
          <p:nvPr/>
        </p:nvSpPr>
        <p:spPr>
          <a:xfrm>
            <a:off x="8305802" y="3426333"/>
            <a:ext cx="1981198" cy="4340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View Events List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6FA547-1547-D89C-6620-B10C20A47250}"/>
              </a:ext>
            </a:extLst>
          </p:cNvPr>
          <p:cNvCxnSpPr/>
          <p:nvPr/>
        </p:nvCxnSpPr>
        <p:spPr>
          <a:xfrm>
            <a:off x="9296401" y="4094226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2694B7D-D211-90D9-BA6B-C984F1FC5050}"/>
              </a:ext>
            </a:extLst>
          </p:cNvPr>
          <p:cNvSpPr/>
          <p:nvPr/>
        </p:nvSpPr>
        <p:spPr>
          <a:xfrm>
            <a:off x="8305802" y="4217543"/>
            <a:ext cx="1981198" cy="5441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Select Event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366C10-B0A5-F28B-BA75-080A23A4B627}"/>
              </a:ext>
            </a:extLst>
          </p:cNvPr>
          <p:cNvCxnSpPr>
            <a:stCxn id="32" idx="2"/>
            <a:endCxn id="35" idx="0"/>
          </p:cNvCxnSpPr>
          <p:nvPr/>
        </p:nvCxnSpPr>
        <p:spPr>
          <a:xfrm>
            <a:off x="9296401" y="3860418"/>
            <a:ext cx="0" cy="35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A01F37B-EA89-2EB3-DB44-BAAFDAD54933}"/>
              </a:ext>
            </a:extLst>
          </p:cNvPr>
          <p:cNvSpPr/>
          <p:nvPr/>
        </p:nvSpPr>
        <p:spPr>
          <a:xfrm>
            <a:off x="8305802" y="5046853"/>
            <a:ext cx="1981198" cy="499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Enter Booking Details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37512D-27FE-A4EA-93FA-D29252999713}"/>
              </a:ext>
            </a:extLst>
          </p:cNvPr>
          <p:cNvCxnSpPr>
            <a:stCxn id="35" idx="2"/>
            <a:endCxn id="38" idx="0"/>
          </p:cNvCxnSpPr>
          <p:nvPr/>
        </p:nvCxnSpPr>
        <p:spPr>
          <a:xfrm>
            <a:off x="9296401" y="4761738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DE5DC-CC48-8C9C-5EFF-CEBB29A7DE31}"/>
              </a:ext>
            </a:extLst>
          </p:cNvPr>
          <p:cNvSpPr/>
          <p:nvPr/>
        </p:nvSpPr>
        <p:spPr>
          <a:xfrm>
            <a:off x="8305802" y="5829301"/>
            <a:ext cx="1981198" cy="5958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Confirm Booking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D9680D-22B5-5C13-FCAE-48A0579AF9C2}"/>
              </a:ext>
            </a:extLst>
          </p:cNvPr>
          <p:cNvSpPr/>
          <p:nvPr/>
        </p:nvSpPr>
        <p:spPr>
          <a:xfrm>
            <a:off x="8305802" y="6707889"/>
            <a:ext cx="1981198" cy="6135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Store in Database(MySQL)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5466F7-DCA5-B7EB-B0F1-9CA44FFEDC13}"/>
              </a:ext>
            </a:extLst>
          </p:cNvPr>
          <p:cNvSpPr/>
          <p:nvPr/>
        </p:nvSpPr>
        <p:spPr>
          <a:xfrm>
            <a:off x="8305802" y="7636890"/>
            <a:ext cx="1981198" cy="5204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Show Confirmation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720B7D1-2188-6A41-4350-ACF59429259B}"/>
              </a:ext>
            </a:extLst>
          </p:cNvPr>
          <p:cNvSpPr/>
          <p:nvPr/>
        </p:nvSpPr>
        <p:spPr>
          <a:xfrm>
            <a:off x="8458200" y="8472804"/>
            <a:ext cx="1828800" cy="6666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D77F482-2E7E-B587-0A14-18A84359DFA2}"/>
              </a:ext>
            </a:extLst>
          </p:cNvPr>
          <p:cNvCxnSpPr>
            <a:stCxn id="38" idx="2"/>
            <a:endCxn id="41" idx="0"/>
          </p:cNvCxnSpPr>
          <p:nvPr/>
        </p:nvCxnSpPr>
        <p:spPr>
          <a:xfrm>
            <a:off x="9296401" y="5546597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63859C0-2320-BF16-5F53-1BCC02E91F55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296401" y="6425185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4949B6-EF76-9594-18AB-076427418B25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9296401" y="7321422"/>
            <a:ext cx="0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7A7B006-2FA9-617A-9197-F9A078AF0BA9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9296401" y="8157336"/>
            <a:ext cx="76199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EBE73055-BF0A-4FD4-80EA-1FE0A692D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33600" y="1948605"/>
            <a:ext cx="1402080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CSS3, JavaScript (for user interface and responsive design).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36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</a:t>
            </a:r>
            <a:r>
              <a:rPr lang="en-US" sz="3600" b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to-</a:t>
            </a: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3600"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ticketing</a:t>
            </a:r>
            <a:r>
              <a:rPr lang="en-US" sz="3600"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US" sz="3600"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lang="en-US" sz="3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US" sz="3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logic,</a:t>
            </a:r>
            <a:r>
              <a:rPr lang="en-US" sz="3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processing,</a:t>
            </a:r>
            <a:r>
              <a:rPr lang="en-US" sz="3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36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management,</a:t>
            </a:r>
            <a:r>
              <a:rPr lang="en-US" sz="3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integrations </a:t>
            </a:r>
            <a:r>
              <a:rPr lang="en-US" sz="36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tickets,</a:t>
            </a:r>
            <a:r>
              <a:rPr lang="en-US" sz="36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users,</a:t>
            </a:r>
            <a:r>
              <a:rPr lang="en-US" sz="3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communications,</a:t>
            </a:r>
            <a:r>
              <a:rPr lang="en-US" sz="3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lang="en-US" sz="3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3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en-US" sz="3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lang="en-US" sz="36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3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IN" sz="3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sz="3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3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lang="en-IN" sz="3600" b="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IDE,</a:t>
            </a:r>
            <a:r>
              <a:rPr lang="en-IN" sz="3600"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lang="en-IN" sz="3600"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IN" sz="3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en-IN" sz="3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Tomcat</a:t>
            </a:r>
            <a:r>
              <a:rPr lang="en-IN" sz="3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Server,</a:t>
            </a:r>
            <a:r>
              <a:rPr lang="en-IN" sz="3600"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IN" sz="3600"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3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en-IN" sz="36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Hardware/Software: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IN" sz="3600"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4GB</a:t>
            </a:r>
            <a:r>
              <a:rPr lang="en-IN" sz="3600"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RAM,</a:t>
            </a:r>
            <a:r>
              <a:rPr lang="en-IN" sz="3600"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IN" sz="3600"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Processor,</a:t>
            </a:r>
            <a:r>
              <a:rPr lang="en-IN" sz="3600"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Windows/Linux</a:t>
            </a:r>
            <a:r>
              <a:rPr lang="en-IN" sz="3600"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OS,</a:t>
            </a:r>
            <a:r>
              <a:rPr lang="en-IN" sz="36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IN" sz="3600"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lang="en-IN" sz="36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(Chrome/Edge/Firefox),</a:t>
            </a:r>
            <a:r>
              <a:rPr lang="en-IN" sz="3600" b="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lang="en-IN" sz="3600"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IN" sz="3600" b="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A19D1454-B55C-38CF-F077-E28B58C12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596" y="2131608"/>
            <a:ext cx="172601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registration, login, and profile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 creates and manages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System: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book tickets and view bookings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and retrieves data securely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092833"/>
            <a:ext cx="217804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4600" y="7167173"/>
            <a:ext cx="14205204" cy="19954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2308860" algn="l"/>
              </a:tabLs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US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lang="en-US"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</a:t>
            </a:r>
            <a:r>
              <a:rPr lang="en-US"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Register,</a:t>
            </a:r>
            <a:r>
              <a:rPr lang="en-US"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</a:t>
            </a:r>
            <a:r>
              <a:rPr lang="en-US"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The image depicts a user interface for an event management platform, showcasing a form for creating an event, including fields for event name, date, location, and pricing options.&#10;&#10;AI-generated content may be incorrect.">
            <a:extLst>
              <a:ext uri="{FF2B5EF4-FFF2-40B4-BE49-F238E27FC236}">
                <a16:creationId xmlns:a16="http://schemas.microsoft.com/office/drawing/2014/main" id="{1E366D16-6E00-5971-8A41-03C3628FE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526918"/>
            <a:ext cx="9869277" cy="3467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973834-C6A0-73AE-030E-4F73B1E67800}"/>
              </a:ext>
            </a:extLst>
          </p:cNvPr>
          <p:cNvSpPr txBox="1"/>
          <p:nvPr/>
        </p:nvSpPr>
        <p:spPr>
          <a:xfrm>
            <a:off x="1728596" y="7124700"/>
            <a:ext cx="14584299" cy="1449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marL="976630" algn="just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Login page lets existing users log in using their registered email and password.</a:t>
            </a:r>
            <a:br>
              <a:rPr lang="en-US" sz="2800" dirty="0"/>
            </a:br>
            <a:r>
              <a:rPr lang="en-US" sz="2800" dirty="0"/>
              <a:t>Validates credentials and redirects to the events dashboard on success</a:t>
            </a:r>
            <a:endParaRPr lang="en-IN" sz="2800" dirty="0"/>
          </a:p>
        </p:txBody>
      </p:sp>
      <p:pic>
        <p:nvPicPr>
          <p:cNvPr id="20" name="Picture 19" descr="Password.&#10;&#10;AI-generated content may be incorrect.">
            <a:extLst>
              <a:ext uri="{FF2B5EF4-FFF2-40B4-BE49-F238E27FC236}">
                <a16:creationId xmlns:a16="http://schemas.microsoft.com/office/drawing/2014/main" id="{A6E57EF7-1D03-D799-3693-5FF64F8D4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489" y="1452407"/>
            <a:ext cx="5468113" cy="5201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6706" y="2092833"/>
            <a:ext cx="70548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41194" y="7895081"/>
            <a:ext cx="14890115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Displays a list of available events with date, venue, and ticket price.</a:t>
            </a:r>
            <a:br>
              <a:rPr lang="en-US" sz="3200" dirty="0"/>
            </a:br>
            <a:r>
              <a:rPr lang="en-US" sz="3200" dirty="0"/>
              <a:t>Users can select quantity and click “Book” to reserve tickets.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Chittoor&#10;&#10;AI-generated content may be incorrect.">
            <a:extLst>
              <a:ext uri="{FF2B5EF4-FFF2-40B4-BE49-F238E27FC236}">
                <a16:creationId xmlns:a16="http://schemas.microsoft.com/office/drawing/2014/main" id="{F647EB71-34ED-FFBC-7D3C-ECBDD3D3A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539618"/>
            <a:ext cx="4076994" cy="4114165"/>
          </a:xfrm>
          <a:prstGeom prst="rect">
            <a:avLst/>
          </a:prstGeom>
        </p:spPr>
      </p:pic>
      <p:pic>
        <p:nvPicPr>
          <p:cNvPr id="21" name="Picture 20" descr="The image displays a booking confirmation for a cricket event in Delhi, showing the date, time, price, tickets remaining, and a form for personal details, with an option to delete the booking.&#10;&#10;AI-generated content may be incorrect.">
            <a:extLst>
              <a:ext uri="{FF2B5EF4-FFF2-40B4-BE49-F238E27FC236}">
                <a16:creationId xmlns:a16="http://schemas.microsoft.com/office/drawing/2014/main" id="{305885D1-DD08-F71D-DC6F-7EFEA5856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008" y="2539618"/>
            <a:ext cx="4945392" cy="4114165"/>
          </a:xfrm>
          <a:prstGeom prst="rect">
            <a:avLst/>
          </a:prstGeom>
        </p:spPr>
      </p:pic>
      <p:pic>
        <p:nvPicPr>
          <p:cNvPr id="23" name="Picture 22" descr="A ticket booking page for Tirupati, showing 99 tickets left, priced at ￢ﾂﾹ100, with a timestamp of 2026-03-23 at 12:50.&#10;&#10;AI-generated content may be incorrect.">
            <a:extLst>
              <a:ext uri="{FF2B5EF4-FFF2-40B4-BE49-F238E27FC236}">
                <a16:creationId xmlns:a16="http://schemas.microsoft.com/office/drawing/2014/main" id="{2DB663A9-CE6D-81AC-2672-EFCFB6F29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0" y="2539618"/>
            <a:ext cx="5334000" cy="41141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3658" y="2092833"/>
            <a:ext cx="71183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385085" y="7159627"/>
            <a:ext cx="13722604" cy="19954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8989060" algn="l"/>
              </a:tabLs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  <a:r>
              <a:rPr lang="en-US"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lang="en-US"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dashroad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And</a:t>
            </a:r>
            <a:r>
              <a:rPr lang="en-US"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US"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defauls</a:t>
            </a:r>
            <a:r>
              <a:rPr lang="en-US" sz="3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lang="en-US"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lang="en-US" sz="32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D58E731-B047-FC1E-D1CF-BB69981C3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717" y="3366362"/>
            <a:ext cx="10772566" cy="3554276"/>
          </a:xfrm>
          <a:prstGeom prst="rect">
            <a:avLst/>
          </a:prstGeom>
        </p:spPr>
      </p:pic>
      <p:pic>
        <p:nvPicPr>
          <p:cNvPr id="20" name="Picture 19" descr="The image displays a booking page with various users, events, ticket prices, dates, and times, showing a schedule for a film or event.&#10;&#10;AI-generated content may be incorrect.">
            <a:extLst>
              <a:ext uri="{FF2B5EF4-FFF2-40B4-BE49-F238E27FC236}">
                <a16:creationId xmlns:a16="http://schemas.microsoft.com/office/drawing/2014/main" id="{E1500815-588F-A96F-0123-D1858C370F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685" y="1813109"/>
            <a:ext cx="13265404" cy="53944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5B7760-A8E9-A24A-8EE4-BA229CE2EF9B}"/>
              </a:ext>
            </a:extLst>
          </p:cNvPr>
          <p:cNvSpPr txBox="1"/>
          <p:nvPr/>
        </p:nvSpPr>
        <p:spPr>
          <a:xfrm>
            <a:off x="3352800" y="2377948"/>
            <a:ext cx="109728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32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Easy and convenient for users to book tickets online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Reduces manual work and paperwork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Faster event management and ticket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Centralized database for storing all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Real-time updates on event availability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07A7D2-9B49-E894-F2C6-EFC383C5A56A}"/>
              </a:ext>
            </a:extLst>
          </p:cNvPr>
          <p:cNvSpPr txBox="1"/>
          <p:nvPr/>
        </p:nvSpPr>
        <p:spPr>
          <a:xfrm>
            <a:off x="3429000" y="5986271"/>
            <a:ext cx="1007579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internet connection to access the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Basic security (can be improved with advanced features)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Limited scalability for very large number of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Payment integration may be basic or simulated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regular maintenance and updates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</p:spTree>
    <p:extLst>
      <p:ext uri="{BB962C8B-B14F-4D97-AF65-F5344CB8AC3E}">
        <p14:creationId xmlns:p14="http://schemas.microsoft.com/office/powerpoint/2010/main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Words>897</Words>
  <Application>Microsoft Office PowerPoint</Application>
  <PresentationFormat>Custom</PresentationFormat>
  <Paragraphs>253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Cambria</vt:lpstr>
      <vt:lpstr>Tahoma</vt:lpstr>
      <vt:lpstr>Times New Roman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umar kottalapalli</dc:creator>
  <cp:lastModifiedBy>Manoj Boggala</cp:lastModifiedBy>
  <cp:revision>17</cp:revision>
  <dcterms:created xsi:type="dcterms:W3CDTF">2026-03-02T03:28:12Z</dcterms:created>
  <dcterms:modified xsi:type="dcterms:W3CDTF">2026-03-23T06:03:20Z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